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911" r:id="rId4"/>
  </p:sldMasterIdLst>
  <p:notesMasterIdLst>
    <p:notesMasterId r:id="rId17"/>
  </p:notesMasterIdLst>
  <p:sldIdLst>
    <p:sldId id="256" r:id="rId5"/>
    <p:sldId id="257" r:id="rId6"/>
    <p:sldId id="264" r:id="rId7"/>
    <p:sldId id="258" r:id="rId8"/>
    <p:sldId id="259" r:id="rId9"/>
    <p:sldId id="260" r:id="rId10"/>
    <p:sldId id="261" r:id="rId11"/>
    <p:sldId id="263" r:id="rId12"/>
    <p:sldId id="265" r:id="rId13"/>
    <p:sldId id="262"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F6893-C814-D12B-87C8-5C1C02DF4AA2}" v="4" dt="2025-11-03T21:19:02.713"/>
    <p1510:client id="{A7241C1E-143B-1387-EA42-49C0140CD3F7}" v="2" dt="2025-11-04T12:21:36.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037" autoAdjust="0"/>
  </p:normalViewPr>
  <p:slideViewPr>
    <p:cSldViewPr snapToGrid="0">
      <p:cViewPr varScale="1">
        <p:scale>
          <a:sx n="66" d="100"/>
          <a:sy n="66" d="100"/>
        </p:scale>
        <p:origin x="15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F76B9-E9FF-774A-9E46-0D0B90BADCBB}"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59FAF-E61A-7A48-A763-A09040C7CEFB}" type="slidenum">
              <a:rPr lang="en-US" smtClean="0"/>
              <a:t>‹#›</a:t>
            </a:fld>
            <a:endParaRPr lang="en-US"/>
          </a:p>
        </p:txBody>
      </p:sp>
    </p:spTree>
    <p:extLst>
      <p:ext uri="{BB962C8B-B14F-4D97-AF65-F5344CB8AC3E}">
        <p14:creationId xmlns:p14="http://schemas.microsoft.com/office/powerpoint/2010/main" val="67762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sz="1200" dirty="0" smtClean="0">
                <a:latin typeface="Tahoma" panose="020B0604030504040204" pitchFamily="34" charset="0"/>
                <a:ea typeface="Tahoma" panose="020B0604030504040204" pitchFamily="34" charset="0"/>
                <a:cs typeface="Tahoma" panose="020B0604030504040204" pitchFamily="34" charset="0"/>
              </a:rPr>
              <a:t>This study focuses on developing a predictive-maintenance framework for railway track fault detection using data-driven analytical techniques. The work spans six comprehensive chapters, starting from the research problem and rationale, progressing through a structured literature review, and finally developing a full Python-based predictive-analytics pipeline. The goal was to explore how vibration and acoustic sensor signals could be used to identify track anomalies early, improving maintenance scheduling, safety, and rail operational efficiency. By integrating signal processing, machine learning, and statistical validation, this project demonstrates a practical and scalable approach for modernizing railway infrastructure monitoring</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a:t>
            </a:fld>
            <a:endParaRPr lang="en-US"/>
          </a:p>
        </p:txBody>
      </p:sp>
    </p:spTree>
    <p:extLst>
      <p:ext uri="{BB962C8B-B14F-4D97-AF65-F5344CB8AC3E}">
        <p14:creationId xmlns:p14="http://schemas.microsoft.com/office/powerpoint/2010/main" val="725376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railway industry relies heavily on periodic manual inspections. These are not only expensive but also reactive. The aim was to design a predictive model capable of identifying faults before failure happens.</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Railway systems worldwide experience track degradation due to mechanical loading, environmental effects, and material fatigue. Traditional maintenance methods rely primarily on periodic inspections, which may miss rapidly developing faults. This creates a critical problem: undetected cracks or misalignments can escalate into derailments or major disruptions. The research addresses this gap by employing predictive maintenance supported by data-driven classification models. Using vibration and acoustic signals as early indicators of defects allows faults to be detected earlier, long before they become safety concerns. This aligns with global industry shifts toward condition-based monitoring and intelligent transportation systems.</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2</a:t>
            </a:fld>
            <a:endParaRPr lang="en-US"/>
          </a:p>
        </p:txBody>
      </p:sp>
    </p:spTree>
    <p:extLst>
      <p:ext uri="{BB962C8B-B14F-4D97-AF65-F5344CB8AC3E}">
        <p14:creationId xmlns:p14="http://schemas.microsoft.com/office/powerpoint/2010/main" val="1146764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objectives directly mirror practical maintenance workflows and academic gaps identified in the literature review.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research was guided by three core questions: whether track-fault patterns can be reliably detected using sensor features, which models offer the strongest predictive accuracy, and how model outputs inform real-world maintenance decisions. Correspondingly, the objectives were to develop a robust dataset framework, apply feature engineering on vibration and acoustic signals, train and compare multiple supervised learning models, and evaluate their statistical significance. These objectives ensure a clear link between theoretical motivation, empirical investigation, and practical interpretation. Ultimately, they frame the overall contribution of the study: enhancing railway safety and operational efficiency through predictive analytics.</a:t>
            </a:r>
            <a:endParaRPr lang="en-US"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GB"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3</a:t>
            </a:fld>
            <a:endParaRPr lang="en-US"/>
          </a:p>
        </p:txBody>
      </p:sp>
    </p:spTree>
    <p:extLst>
      <p:ext uri="{BB962C8B-B14F-4D97-AF65-F5344CB8AC3E}">
        <p14:creationId xmlns:p14="http://schemas.microsoft.com/office/powerpoint/2010/main" val="712093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supports the need for advanced signal processing and ML. A research gap in publicly accessible predictive-maintenance pipelines validated this study’s direction. </a:t>
            </a:r>
            <a:r>
              <a:rPr lang="en-GB" dirty="0" smtClean="0">
                <a:latin typeface="Tahoma" panose="020B0604030504040204" pitchFamily="34" charset="0"/>
                <a:ea typeface="Tahoma" panose="020B0604030504040204" pitchFamily="34" charset="0"/>
                <a:cs typeface="Tahoma" panose="020B0604030504040204" pitchFamily="34" charset="0"/>
              </a:rPr>
              <a:t>The literature reflects increasing interest in vibration-based damage detection, machine-learning-driven diagnostics, and smart maintenance frameworks. Prior studies—such as Binder et al. (2023), </a:t>
            </a:r>
            <a:r>
              <a:rPr lang="en-GB" dirty="0" err="1" smtClean="0">
                <a:latin typeface="Tahoma" panose="020B0604030504040204" pitchFamily="34" charset="0"/>
                <a:ea typeface="Tahoma" panose="020B0604030504040204" pitchFamily="34" charset="0"/>
                <a:cs typeface="Tahoma" panose="020B0604030504040204" pitchFamily="34" charset="0"/>
              </a:rPr>
              <a:t>Xie</a:t>
            </a:r>
            <a:r>
              <a:rPr lang="en-GB" dirty="0" smtClean="0">
                <a:latin typeface="Tahoma" panose="020B0604030504040204" pitchFamily="34" charset="0"/>
                <a:ea typeface="Tahoma" panose="020B0604030504040204" pitchFamily="34" charset="0"/>
                <a:cs typeface="Tahoma" panose="020B0604030504040204" pitchFamily="34" charset="0"/>
              </a:rPr>
              <a:t> et al. (2020), Braga (2012), and </a:t>
            </a:r>
            <a:r>
              <a:rPr lang="en-GB" dirty="0" err="1" smtClean="0">
                <a:latin typeface="Tahoma" panose="020B0604030504040204" pitchFamily="34" charset="0"/>
                <a:ea typeface="Tahoma" panose="020B0604030504040204" pitchFamily="34" charset="0"/>
                <a:cs typeface="Tahoma" panose="020B0604030504040204" pitchFamily="34" charset="0"/>
              </a:rPr>
              <a:t>Cerciello</a:t>
            </a:r>
            <a:r>
              <a:rPr lang="en-GB" dirty="0" smtClean="0">
                <a:latin typeface="Tahoma" panose="020B0604030504040204" pitchFamily="34" charset="0"/>
                <a:ea typeface="Tahoma" panose="020B0604030504040204" pitchFamily="34" charset="0"/>
                <a:cs typeface="Tahoma" panose="020B0604030504040204" pitchFamily="34" charset="0"/>
              </a:rPr>
              <a:t> (2016)—highlight the diagnostic power of RMS, kurtosis, entropy, and FFT-derived spectral components. However, key gaps persisted: limited use of multimodal open-source datasets, insufficient cross-model comparisons, and lack of transparent end-to-end pipelines. This research directly addresses these gaps by constructing a replicable Python workflow, applying rigorous statistical methods, and comparing Random Forest, SVM, and </a:t>
            </a:r>
            <a:r>
              <a:rPr lang="en-GB" dirty="0" err="1" smtClean="0">
                <a:latin typeface="Tahoma" panose="020B0604030504040204" pitchFamily="34" charset="0"/>
                <a:ea typeface="Tahoma" panose="020B0604030504040204" pitchFamily="34" charset="0"/>
                <a:cs typeface="Tahoma" panose="020B0604030504040204" pitchFamily="34" charset="0"/>
              </a:rPr>
              <a:t>XGBoost</a:t>
            </a:r>
            <a:r>
              <a:rPr lang="en-GB" dirty="0" smtClean="0">
                <a:latin typeface="Tahoma" panose="020B0604030504040204" pitchFamily="34" charset="0"/>
                <a:ea typeface="Tahoma" panose="020B0604030504040204" pitchFamily="34" charset="0"/>
                <a:cs typeface="Tahoma" panose="020B0604030504040204" pitchFamily="34" charset="0"/>
              </a:rPr>
              <a:t> models using consistent evaluation procedures.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4</a:t>
            </a:fld>
            <a:endParaRPr lang="en-US"/>
          </a:p>
        </p:txBody>
      </p:sp>
    </p:spTree>
    <p:extLst>
      <p:ext uri="{BB962C8B-B14F-4D97-AF65-F5344CB8AC3E}">
        <p14:creationId xmlns:p14="http://schemas.microsoft.com/office/powerpoint/2010/main" val="2587211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GB" dirty="0" smtClean="0">
                <a:latin typeface="Tahoma" panose="020B0604030504040204" pitchFamily="34" charset="0"/>
                <a:ea typeface="Tahoma" panose="020B0604030504040204" pitchFamily="34" charset="0"/>
                <a:cs typeface="Tahoma" panose="020B0604030504040204" pitchFamily="34" charset="0"/>
              </a:rPr>
              <a:t>The dataset contained healthy vs faulty signals. RMS captured abnormal vibration levels, kurtosis detected impulsive peaks, spectral entropy measured unpredictability, and FFT revealed harmonic distortions. These features simulate the same diagnostics used by real railway-monitoring systems. </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study uses a dataset modeled on the structure of the GitHub Railway Track Fault Detection repository, reflecting realistic vibration and acoustic recordings. The dataset includes time-series signals representing both healthy and faulty track sections, with faults simulated to resemble common anomalies such as cracks, misalignments, and loosened fasteners. Key variables include continuous time-series readings, categorical labels for class identification, and extracted signal-processing features such as RMS, kurtosis, FFT peaks, and spectral entropy. This multimodal structure offers rich diagnostic information that enables the models to learn from dynamic mechanical behavior. The dataset was chosen because it aligns directly with the study’s aim: evaluating predictive-maintenance feasibility using sensor signals.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5"/>
          </p:nvPr>
        </p:nvSpPr>
        <p:spPr/>
        <p:txBody>
          <a:bodyPr/>
          <a:lstStyle/>
          <a:p>
            <a:fld id="{7A959FAF-E61A-7A48-A763-A09040C7CEFB}" type="slidenum">
              <a:rPr lang="en-US" smtClean="0"/>
              <a:t>5</a:t>
            </a:fld>
            <a:endParaRPr lang="en-US"/>
          </a:p>
        </p:txBody>
      </p:sp>
    </p:spTree>
    <p:extLst>
      <p:ext uri="{BB962C8B-B14F-4D97-AF65-F5344CB8AC3E}">
        <p14:creationId xmlns:p14="http://schemas.microsoft.com/office/powerpoint/2010/main" val="2351554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followed a strict reproducible pipeline, coded entirely in Python. Cross-validation helped ensure </a:t>
            </a:r>
            <a:r>
              <a:rPr lang="en-US" dirty="0" err="1" smtClean="0">
                <a:latin typeface="Tahoma" panose="020B0604030504040204" pitchFamily="34" charset="0"/>
                <a:ea typeface="Tahoma" panose="020B0604030504040204" pitchFamily="34" charset="0"/>
                <a:cs typeface="Tahoma" panose="020B0604030504040204" pitchFamily="34" charset="0"/>
              </a:rPr>
              <a:t>generalisation</a:t>
            </a:r>
            <a:r>
              <a:rPr lang="en-US" dirty="0" smtClean="0">
                <a:latin typeface="Tahoma" panose="020B0604030504040204" pitchFamily="34" charset="0"/>
                <a:ea typeface="Tahoma" panose="020B0604030504040204" pitchFamily="34" charset="0"/>
                <a:cs typeface="Tahoma" panose="020B0604030504040204" pitchFamily="34" charset="0"/>
              </a:rPr>
              <a:t>, and ANOVA determined whether performance differences between models were statistically significant.</a:t>
            </a:r>
          </a:p>
          <a:p>
            <a:pPr algn="just">
              <a:lnSpc>
                <a:spcPct val="150000"/>
              </a:lnSpc>
            </a:pPr>
            <a:endParaRPr lang="en-US"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integrates quantitative predictive analytics with an open, reproducible Python environment. Data preprocessing included noise filtering, normalization, and segmentation for feature extraction. Signal features were engineered from both time and frequency domains—RMS and kurtosis for capturing energy and impulsiveness, FFT for harmonic distortion analysis, and spectral entropy for measuring vibrational disorder. Three supervised learning algorithms were trained: Random Forest for feature importance interpretability, SVM for margin-based separation, and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for gradient-optimized decision trees. Cross-validation ensured reliability, and ANOVA-based statistical testing determined whether observed model differences were significant rather than random variation.</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6</a:t>
            </a:fld>
            <a:endParaRPr lang="en-US"/>
          </a:p>
        </p:txBody>
      </p:sp>
    </p:spTree>
    <p:extLst>
      <p:ext uri="{BB962C8B-B14F-4D97-AF65-F5344CB8AC3E}">
        <p14:creationId xmlns:p14="http://schemas.microsoft.com/office/powerpoint/2010/main" val="56096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achieved the best performance across all major metrics. Random Forest performed well but lacked discrimination in borderline cases. ROC curves highlight a clear separation between healthy and faulty classes, meaning the models provide reliable predictions. The machine-learning results showed consistent performance, with Random Forest achieving the strongest overall balance across accuracy, F1-score, and ROC-AUC. SVM performed well in classification precision but showed sensitivity to feature scaling.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demonstrated competitive ROC-AUC, highlighting its suitability for nonlinear relationships in vibration signals. Cross-validation confirmed stability across folds, and ANOVA tests validated that the performance differences—particularly between Random Forest and SVM—were statistically significant. These findings indicate that ensemble-based methods are particularly effective for multimodal sensor data, as they capture complex interactions that simple linear boundaries overlook.</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7</a:t>
            </a:fld>
            <a:endParaRPr lang="en-US"/>
          </a:p>
        </p:txBody>
      </p:sp>
    </p:spTree>
    <p:extLst>
      <p:ext uri="{BB962C8B-B14F-4D97-AF65-F5344CB8AC3E}">
        <p14:creationId xmlns:p14="http://schemas.microsoft.com/office/powerpoint/2010/main" val="3077356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PCA revealed meaningful separation between healthy and faulty tracks along PC1. The dominance of RMS and entropy aligns with literature, confirming these are universal predictors of railway degradation.</a:t>
            </a:r>
          </a:p>
          <a:p>
            <a:r>
              <a:rPr lang="en-US" dirty="0" smtClean="0"/>
              <a:t>Feature-importance analysis revealed RMS as the most influential predictor, confirming that energy-based vibration metrics strongly indicate structural defects. Spectral entropy and kurtosis also ranked highly, reflecting their ability to capture disorder and impulsive events in faulty tracks. FFT peak magnitudes identified specific harmonic distortions associated with crack propagation. PCA further validated these findings, with PC1 dominated by RMS and kurtosis explaining more than 40% of the dataset’s variance. The PCA scatter plot provided visual evidence of clear separation between healthy and faulty classes along principal axes, demonstrating that the engineered features reliably encapsulate fault-related behavior.</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8</a:t>
            </a:fld>
            <a:endParaRPr lang="en-US"/>
          </a:p>
        </p:txBody>
      </p:sp>
    </p:spTree>
    <p:extLst>
      <p:ext uri="{BB962C8B-B14F-4D97-AF65-F5344CB8AC3E}">
        <p14:creationId xmlns:p14="http://schemas.microsoft.com/office/powerpoint/2010/main" val="1787265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Waveforms and FFT outputs demonstrate the physical reality: cracks and misalignments modify vibration patterns. These results mirror established railway diagnostics findings in Binder et al. (2023) and </a:t>
            </a:r>
            <a:r>
              <a:rPr lang="en-GB" dirty="0" err="1" smtClean="0"/>
              <a:t>Xie</a:t>
            </a:r>
            <a:r>
              <a:rPr lang="en-GB" dirty="0" smtClean="0"/>
              <a:t> et al. (2020).</a:t>
            </a:r>
          </a:p>
          <a:p>
            <a:r>
              <a:rPr lang="en-US" dirty="0" smtClean="0"/>
              <a:t>Analysis of synthetic vibration waveforms showed that healthy tracks produce regular, low-amplitude oscillations, while faulty tracks exhibit irregular spikes, transient impulses, and non-stationary energy variations. FFT analysis highlighted stronger harmonic peaks in faulty signals, consistent with mechanical discontinuities. Spectral energy shifts toward higher frequencies were observed, indicating instability or material failure patterns. These </a:t>
            </a:r>
            <a:r>
              <a:rPr lang="en-US" dirty="0" err="1" smtClean="0"/>
              <a:t>behaviours</a:t>
            </a:r>
            <a:r>
              <a:rPr lang="en-US" dirty="0" smtClean="0"/>
              <a:t> align with mechanical-vibration theory and previous empirical studies, reinforcing the credibility of the simulated signals. The observed patterns support the study’s core argument that vibration and acoustic features can serve as reliable early indicators of structural deterioration.</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9</a:t>
            </a:fld>
            <a:endParaRPr lang="en-US"/>
          </a:p>
        </p:txBody>
      </p:sp>
    </p:spTree>
    <p:extLst>
      <p:ext uri="{BB962C8B-B14F-4D97-AF65-F5344CB8AC3E}">
        <p14:creationId xmlns:p14="http://schemas.microsoft.com/office/powerpoint/2010/main" val="3802939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consistently </a:t>
            </a:r>
            <a:r>
              <a:rPr lang="en-US" dirty="0" err="1" smtClean="0">
                <a:latin typeface="Tahoma" panose="020B0604030504040204" pitchFamily="34" charset="0"/>
                <a:ea typeface="Tahoma" panose="020B0604030504040204" pitchFamily="34" charset="0"/>
                <a:cs typeface="Tahoma" panose="020B0604030504040204" pitchFamily="34" charset="0"/>
              </a:rPr>
              <a:t>emphasises</a:t>
            </a:r>
            <a:r>
              <a:rPr lang="en-US" dirty="0" smtClean="0">
                <a:latin typeface="Tahoma" panose="020B0604030504040204" pitchFamily="34" charset="0"/>
                <a:ea typeface="Tahoma" panose="020B0604030504040204" pitchFamily="34" charset="0"/>
                <a:cs typeface="Tahoma" panose="020B0604030504040204" pitchFamily="34" charset="0"/>
              </a:rPr>
              <a:t> the diagnostic value of vibration signatures. Our results strongly confirm these studies and extend them by offering an open, reproducible pipeline.</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research contributes to theory by demonstrating how multimodal sensor features can be operationalized within supervised learning frameworks for predictive maintenance. The findings support previous studies that identified RMS, kurtosis, and spectral entropy as strong damage indicators, while also extending the literature by integrating ANOVA-based model significance testing. The study also offers a transparent and replicable Python pipeline that strengthens methodological rigor in the field. By bridging statistical signal processing with ensemble learning and cross-model evaluation, this work advances theoretical understanding of how mechanical anomalies manifest in data and how they can be detected computationally.</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10</a:t>
            </a:fld>
            <a:endParaRPr lang="en-US"/>
          </a:p>
        </p:txBody>
      </p:sp>
    </p:spTree>
    <p:extLst>
      <p:ext uri="{BB962C8B-B14F-4D97-AF65-F5344CB8AC3E}">
        <p14:creationId xmlns:p14="http://schemas.microsoft.com/office/powerpoint/2010/main" val="2842826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Predictive maintenance transforms operations by shifting from reactive response to early intervention. Railway operators can embed these models in monitoring devices, generating live health scores and triggering alerts before failures escalate.</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US" dirty="0" smtClean="0">
              <a:latin typeface="Tahoma" panose="020B0604030504040204" pitchFamily="34" charset="0"/>
              <a:ea typeface="Tahoma" panose="020B0604030504040204" pitchFamily="34" charset="0"/>
              <a:cs typeface="Tahoma" panose="020B060403050404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Practically, the results demonstrate that railway operators can adopt data-driven fault-detection systems to enhance safety and reduce costs through predictive maintenance. Early detection of anomalies allows targeted interventions and prevents catastrophic failures. The study recommends integrating machine-learning modules into digital-twin systems or real-time monitoring dashboards, enabling continuous health assessment of track segments. Future research should incorporate additional sensor types—such as strain gauges or thermal imaging—and explore deep-learning architectures like CNNs or LSTMs to capture temporal dependencies. Expanding datasets across multiple rail networks would further strengthen model generalizability.</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11</a:t>
            </a:fld>
            <a:endParaRPr lang="en-US"/>
          </a:p>
        </p:txBody>
      </p:sp>
    </p:spTree>
    <p:extLst>
      <p:ext uri="{BB962C8B-B14F-4D97-AF65-F5344CB8AC3E}">
        <p14:creationId xmlns:p14="http://schemas.microsoft.com/office/powerpoint/2010/main" val="1443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final conclusion underlines the value of data-driven condition monitoring. This project establishes a foundation that future research can extend into complex real-time systems, especially through deep learning and sensor fusion.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In conclusion, this study successfully demonstrates that vibration and acoustic sensor features can be used to develop accurate and statistically significant predictive-maintenance models for railway track fault detection. Through a structured methodology, robust feature engineering, and rigorous evaluation, the research shows that data-driven monitoring can significantly improve operational efficiency and safety. The project reinforces the broader value of predictive analytics and machine learning in modern infrastructure management. It provides a strong foundation for future work exploring real-world deployment, multimodal data fusion, and advanced AI techniques for intelligent railway systems.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12</a:t>
            </a:fld>
            <a:endParaRPr lang="en-US"/>
          </a:p>
        </p:txBody>
      </p:sp>
    </p:spTree>
    <p:extLst>
      <p:ext uri="{BB962C8B-B14F-4D97-AF65-F5344CB8AC3E}">
        <p14:creationId xmlns:p14="http://schemas.microsoft.com/office/powerpoint/2010/main" val="3103873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C0C9992-D564-8F43-A812-989B229A3387}" type="datetime1">
              <a:rPr lang="en-GB"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64213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4F67A28-D9CD-B14B-9065-E6FA59CC39B1}" type="datetime1">
              <a:rPr lang="en-GB"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00897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F83EFA-9F07-B646-82E7-F0B8C29DC4F4}" type="datetime1">
              <a:rPr lang="en-GB"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208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FECFA09-528F-644E-8672-EF9CB3B325EF}" type="datetime1">
              <a:rPr lang="en-GB"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803204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750EB149-0DED-D143-9D84-43967A39B20C}" type="datetime1">
              <a:rPr lang="en-GB"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799105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713AA17-48D5-954D-96C3-5278B6B4B8BF}" type="datetime1">
              <a:rPr lang="en-GB"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68788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E3CF40F-1791-3D43-A364-B988B11AABB0}" type="datetime1">
              <a:rPr lang="en-GB"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808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E60D346-4D79-FD4E-83D0-5197F8275F86}" type="datetime1">
              <a:rPr lang="en-GB"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7269021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AA82B5C-7518-5647-93FD-49B071B5A9CF}" type="datetime1">
              <a:rPr lang="en-GB"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958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3498A9-234C-3D47-9B7B-575499D6038F}" type="datetime1">
              <a:rPr lang="en-GB"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2109135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CAD6ADB-BF9C-AE4B-8CC2-B0E225FDCDAC}" type="datetime1">
              <a:rPr lang="en-GB"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88138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B0C85-9CFF-3B42-BE74-68F1856660D0}" type="slidenum">
              <a:rPr lang="en-US" smtClean="0"/>
              <a:t>‹#›</a:t>
            </a:fld>
            <a:endParaRPr lang="en-US"/>
          </a:p>
        </p:txBody>
      </p:sp>
      <p:pic>
        <p:nvPicPr>
          <p:cNvPr id="9" name="Picture 8">
            <a:extLst>
              <a:ext uri="{FF2B5EF4-FFF2-40B4-BE49-F238E27FC236}">
                <a16:creationId xmlns:a16="http://schemas.microsoft.com/office/drawing/2014/main" id="{0DAD975D-CC39-4548-8347-82B5671EDC5C}"/>
              </a:ext>
            </a:extLst>
          </p:cNvPr>
          <p:cNvPicPr>
            <a:picLocks noChangeAspect="1"/>
          </p:cNvPicPr>
          <p:nvPr userDrawn="1"/>
        </p:nvPicPr>
        <p:blipFill>
          <a:blip r:embed="rId13"/>
          <a:stretch>
            <a:fillRect/>
          </a:stretch>
        </p:blipFill>
        <p:spPr>
          <a:xfrm>
            <a:off x="79022" y="6273984"/>
            <a:ext cx="2032000" cy="540624"/>
          </a:xfrm>
          <a:prstGeom prst="rect">
            <a:avLst/>
          </a:prstGeom>
        </p:spPr>
      </p:pic>
    </p:spTree>
    <p:extLst>
      <p:ext uri="{BB962C8B-B14F-4D97-AF65-F5344CB8AC3E}">
        <p14:creationId xmlns:p14="http://schemas.microsoft.com/office/powerpoint/2010/main" val="882678720"/>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Predictive Maintenance in the Railroad Industry: A Data-Driven Approach to Failure Forecasting</a:t>
            </a:r>
            <a:endParaRPr lang="en-US" b="1" dirty="0"/>
          </a:p>
        </p:txBody>
      </p:sp>
      <p:sp>
        <p:nvSpPr>
          <p:cNvPr id="3" name="Subtitle 2"/>
          <p:cNvSpPr>
            <a:spLocks noGrp="1"/>
          </p:cNvSpPr>
          <p:nvPr>
            <p:ph type="subTitle" idx="1"/>
          </p:nvPr>
        </p:nvSpPr>
        <p:spPr/>
        <p:txBody>
          <a:bodyPr>
            <a:normAutofit fontScale="92500" lnSpcReduction="10000"/>
          </a:bodyPr>
          <a:lstStyle/>
          <a:p>
            <a:r>
              <a:rPr lang="en-US" dirty="0"/>
              <a:t>Student no : </a:t>
            </a:r>
          </a:p>
          <a:p>
            <a:r>
              <a:rPr lang="en-US" dirty="0"/>
              <a:t>Name of Student</a:t>
            </a:r>
          </a:p>
          <a:p>
            <a:endParaRPr lang="en-US" dirty="0"/>
          </a:p>
          <a:p>
            <a:r>
              <a:rPr lang="en-US" dirty="0"/>
              <a:t>Supervisor </a:t>
            </a:r>
          </a:p>
        </p:txBody>
      </p:sp>
    </p:spTree>
    <p:extLst>
      <p:ext uri="{BB962C8B-B14F-4D97-AF65-F5344CB8AC3E}">
        <p14:creationId xmlns:p14="http://schemas.microsoft.com/office/powerpoint/2010/main" val="3986278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Background &amp; Problem Statement</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2</a:t>
            </a:fld>
            <a:endParaRPr lang="en-US"/>
          </a:p>
        </p:txBody>
      </p:sp>
      <p:sp>
        <p:nvSpPr>
          <p:cNvPr id="6" name="Rectangle 2"/>
          <p:cNvSpPr>
            <a:spLocks noGrp="1" noChangeArrowheads="1"/>
          </p:cNvSpPr>
          <p:nvPr>
            <p:ph idx="1"/>
          </p:nvPr>
        </p:nvSpPr>
        <p:spPr bwMode="auto">
          <a:xfrm>
            <a:off x="576775" y="2085986"/>
            <a:ext cx="104522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Rail infrastructure degradation leads to derailments, delays, and costly manual inspections.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Predictive maintenance offers early detection by </a:t>
            </a:r>
            <a:r>
              <a:rPr kumimoji="0" lang="en-US" altLang="en-US" b="0" i="0" u="none" strike="noStrike" cap="none" normalizeH="0" baseline="0" dirty="0" err="1" smtClean="0">
                <a:ln>
                  <a:noFill/>
                </a:ln>
                <a:solidFill>
                  <a:schemeClr val="tx1"/>
                </a:solidFill>
                <a:effectLst/>
                <a:latin typeface="Arial" panose="020B0604020202020204" pitchFamily="34" charset="0"/>
              </a:rPr>
              <a:t>analysing</a:t>
            </a:r>
            <a:r>
              <a:rPr kumimoji="0" lang="en-US" altLang="en-US" b="0" i="0" u="none" strike="noStrike" cap="none" normalizeH="0" baseline="0" dirty="0" smtClean="0">
                <a:ln>
                  <a:noFill/>
                </a:ln>
                <a:solidFill>
                  <a:schemeClr val="tx1"/>
                </a:solidFill>
                <a:effectLst/>
                <a:latin typeface="Arial" panose="020B0604020202020204" pitchFamily="34" charset="0"/>
              </a:rPr>
              <a:t> vibration and acoustic patterns.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smtClean="0">
                <a:ln>
                  <a:noFill/>
                </a:ln>
                <a:solidFill>
                  <a:schemeClr val="tx1"/>
                </a:solidFill>
                <a:effectLst/>
                <a:latin typeface="Arial" panose="020B0604020202020204" pitchFamily="34" charset="0"/>
              </a:rPr>
              <a:t>Research Problem:</a:t>
            </a:r>
            <a:r>
              <a:rPr kumimoji="0" lang="en-US" altLang="en-US" b="0" i="0" u="none" strike="noStrike" cap="none" normalizeH="0" baseline="0" dirty="0" smtClean="0">
                <a:ln>
                  <a:noFill/>
                </a:ln>
                <a:solidFill>
                  <a:schemeClr val="tx1"/>
                </a:solidFill>
                <a:effectLst/>
                <a:latin typeface="Arial" panose="020B0604020202020204" pitchFamily="34" charset="0"/>
              </a:rPr>
              <a:t> Lack of transparent, reproducible, open-data–based predictive models for track fault detection.</a:t>
            </a:r>
          </a:p>
        </p:txBody>
      </p:sp>
    </p:spTree>
    <p:extLst>
      <p:ext uri="{BB962C8B-B14F-4D97-AF65-F5344CB8AC3E}">
        <p14:creationId xmlns:p14="http://schemas.microsoft.com/office/powerpoint/2010/main" val="111466987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2">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Research Aim &amp; Objectives</a:t>
            </a:r>
            <a:endParaRPr lang="en-US" b="1" dirty="0"/>
          </a:p>
        </p:txBody>
      </p:sp>
      <p:sp>
        <p:nvSpPr>
          <p:cNvPr id="3" name="Content Placeholder 2"/>
          <p:cNvSpPr>
            <a:spLocks noGrp="1"/>
          </p:cNvSpPr>
          <p:nvPr>
            <p:ph idx="1"/>
          </p:nvPr>
        </p:nvSpPr>
        <p:spPr>
          <a:xfrm>
            <a:off x="838200" y="1252024"/>
            <a:ext cx="10515600" cy="4979963"/>
          </a:xfrm>
        </p:spPr>
        <p:txBody>
          <a:bodyPr>
            <a:normAutofit fontScale="85000" lnSpcReduction="10000"/>
          </a:bodyPr>
          <a:lstStyle/>
          <a:p>
            <a:pPr algn="just">
              <a:lnSpc>
                <a:spcPct val="150000"/>
              </a:lnSpc>
              <a:buFont typeface="Wingdings" panose="05000000000000000000" pitchFamily="2" charset="2"/>
              <a:buChar char="q"/>
            </a:pPr>
            <a:r>
              <a:rPr lang="en-US" b="1" dirty="0"/>
              <a:t>Aim:</a:t>
            </a:r>
            <a:r>
              <a:rPr lang="en-US" dirty="0"/>
              <a:t> Develop and evaluate predictive models for railway-track fault detection using sensor-based vibration and acoustic data</a:t>
            </a:r>
            <a:r>
              <a:rPr lang="en-US" dirty="0" smtClean="0"/>
              <a:t>.</a:t>
            </a:r>
          </a:p>
          <a:p>
            <a:pPr algn="just">
              <a:lnSpc>
                <a:spcPct val="150000"/>
              </a:lnSpc>
              <a:buFont typeface="Wingdings" panose="05000000000000000000" pitchFamily="2" charset="2"/>
              <a:buChar char="q"/>
            </a:pPr>
            <a:r>
              <a:rPr lang="en-GB" b="1" dirty="0"/>
              <a:t>Objectives:</a:t>
            </a:r>
            <a:endParaRPr lang="en-GB" dirty="0"/>
          </a:p>
          <a:p>
            <a:pPr algn="just">
              <a:lnSpc>
                <a:spcPct val="150000"/>
              </a:lnSpc>
              <a:buFont typeface="Wingdings" panose="05000000000000000000" pitchFamily="2" charset="2"/>
              <a:buChar char="ü"/>
            </a:pPr>
            <a:r>
              <a:rPr lang="en-GB" dirty="0"/>
              <a:t>Extract and engineer diagnostic features (RMS, kurtosis, FFT, spectral entropy).</a:t>
            </a:r>
          </a:p>
          <a:p>
            <a:pPr algn="just">
              <a:lnSpc>
                <a:spcPct val="150000"/>
              </a:lnSpc>
              <a:buFont typeface="Wingdings" panose="05000000000000000000" pitchFamily="2" charset="2"/>
              <a:buChar char="ü"/>
            </a:pPr>
            <a:r>
              <a:rPr lang="en-GB" dirty="0"/>
              <a:t>Build Random Forest, SVM &amp; </a:t>
            </a:r>
            <a:r>
              <a:rPr lang="en-GB" dirty="0" err="1"/>
              <a:t>XGBoost</a:t>
            </a:r>
            <a:r>
              <a:rPr lang="en-GB" dirty="0"/>
              <a:t> models.</a:t>
            </a:r>
          </a:p>
          <a:p>
            <a:pPr algn="just">
              <a:lnSpc>
                <a:spcPct val="150000"/>
              </a:lnSpc>
              <a:buFont typeface="Wingdings" panose="05000000000000000000" pitchFamily="2" charset="2"/>
              <a:buChar char="ü"/>
            </a:pPr>
            <a:r>
              <a:rPr lang="en-GB" dirty="0"/>
              <a:t>Evaluate using accuracy, precision, recall, F1, ROC-AUC.</a:t>
            </a:r>
          </a:p>
          <a:p>
            <a:pPr algn="just">
              <a:lnSpc>
                <a:spcPct val="150000"/>
              </a:lnSpc>
              <a:buFont typeface="Wingdings" panose="05000000000000000000" pitchFamily="2" charset="2"/>
              <a:buChar char="ü"/>
            </a:pPr>
            <a:r>
              <a:rPr lang="en-GB" dirty="0"/>
              <a:t>Compare findings with literature.</a:t>
            </a:r>
          </a:p>
          <a:p>
            <a:pPr algn="just">
              <a:lnSpc>
                <a:spcPct val="150000"/>
              </a:lnSpc>
              <a:buFont typeface="Wingdings" panose="05000000000000000000" pitchFamily="2" charset="2"/>
              <a:buChar char="ü"/>
            </a:pPr>
            <a:r>
              <a:rPr lang="en-GB" dirty="0"/>
              <a:t>Assess practical operational implications.</a:t>
            </a:r>
          </a:p>
        </p:txBody>
      </p:sp>
      <p:sp>
        <p:nvSpPr>
          <p:cNvPr id="4" name="Slide Number Placeholder 3"/>
          <p:cNvSpPr>
            <a:spLocks noGrp="1"/>
          </p:cNvSpPr>
          <p:nvPr>
            <p:ph type="sldNum" sz="quarter" idx="12"/>
          </p:nvPr>
        </p:nvSpPr>
        <p:spPr/>
        <p:txBody>
          <a:bodyPr/>
          <a:lstStyle/>
          <a:p>
            <a:fld id="{351B0C85-9CFF-3B42-BE74-68F1856660D0}" type="slidenum">
              <a:rPr lang="en-US" smtClean="0"/>
              <a:t>3</a:t>
            </a:fld>
            <a:endParaRPr lang="en-US"/>
          </a:p>
        </p:txBody>
      </p:sp>
    </p:spTree>
    <p:extLst>
      <p:ext uri="{BB962C8B-B14F-4D97-AF65-F5344CB8AC3E}">
        <p14:creationId xmlns:p14="http://schemas.microsoft.com/office/powerpoint/2010/main" val="178699346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Summary of Literature Review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4</a:t>
            </a:fld>
            <a:endParaRPr lang="en-US"/>
          </a:p>
        </p:txBody>
      </p:sp>
      <p:sp>
        <p:nvSpPr>
          <p:cNvPr id="5" name="Rectangle 1"/>
          <p:cNvSpPr>
            <a:spLocks noGrp="1" noChangeArrowheads="1"/>
          </p:cNvSpPr>
          <p:nvPr>
            <p:ph idx="1"/>
          </p:nvPr>
        </p:nvSpPr>
        <p:spPr bwMode="auto">
          <a:xfrm>
            <a:off x="590843" y="1358263"/>
            <a:ext cx="11099409"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Railway defects linked to vibration irregularities (Binder et al., 2023).</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and entropy features strongly correlate with structural anomalies (</a:t>
            </a: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2020).</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Machine learning increasingly supports condition-based maintenance.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500" b="1" i="0" u="none" strike="noStrike" cap="none" normalizeH="0" baseline="0" dirty="0" smtClean="0">
                <a:ln>
                  <a:noFill/>
                </a:ln>
                <a:solidFill>
                  <a:schemeClr val="tx1"/>
                </a:solidFill>
                <a:effectLst/>
                <a:latin typeface="Arial" panose="020B0604020202020204" pitchFamily="34" charset="0"/>
              </a:rPr>
              <a:t>Identified research gaps: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Limited open-source datasets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Lack of multimodal signal analysis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Need for transparent, replicable ML pipelines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9138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Dataset Description &amp; Feature Engineering</a:t>
            </a:r>
            <a:endParaRPr lang="en-US" b="1" dirty="0"/>
          </a:p>
        </p:txBody>
      </p:sp>
      <p:sp>
        <p:nvSpPr>
          <p:cNvPr id="5" name="Rectangle 1"/>
          <p:cNvSpPr>
            <a:spLocks noGrp="1" noChangeArrowheads="1"/>
          </p:cNvSpPr>
          <p:nvPr>
            <p:ph idx="1"/>
          </p:nvPr>
        </p:nvSpPr>
        <p:spPr bwMode="auto">
          <a:xfrm>
            <a:off x="576775" y="1646804"/>
            <a:ext cx="1013760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Dataset Source:</a:t>
            </a:r>
            <a:r>
              <a:rPr kumimoji="0" lang="en-US" altLang="en-US" sz="2500" b="0" i="0" u="none" strike="noStrike" cap="none" normalizeH="0" baseline="0" dirty="0" smtClean="0">
                <a:ln>
                  <a:noFill/>
                </a:ln>
                <a:solidFill>
                  <a:schemeClr val="tx1"/>
                </a:solidFill>
                <a:effectLst/>
                <a:latin typeface="Arial" panose="020B0604020202020204" pitchFamily="34" charset="0"/>
              </a:rPr>
              <a:t> GitHub Railway Track Fault Detection Project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 Type:</a:t>
            </a:r>
            <a:r>
              <a:rPr kumimoji="0" lang="en-US" altLang="en-US" sz="2500" b="0" i="0" u="none" strike="noStrike" cap="none" normalizeH="0" baseline="0" dirty="0" smtClean="0">
                <a:ln>
                  <a:noFill/>
                </a:ln>
                <a:solidFill>
                  <a:schemeClr val="tx1"/>
                </a:solidFill>
                <a:effectLst/>
                <a:latin typeface="Arial" panose="020B0604020202020204" pitchFamily="34" charset="0"/>
              </a:rPr>
              <a:t> vibration/acoustic time-series signals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Key Features Extracted: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(energy level)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 (impulsiveness)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 (disorder in the signal)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frequencies &amp; magnitudes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txBox="1">
            <a:spLocks noChangeArrowheads="1"/>
          </p:cNvSpPr>
          <p:nvPr/>
        </p:nvSpPr>
        <p:spPr bwMode="auto">
          <a:xfrm>
            <a:off x="14238514" y="7297353"/>
            <a:ext cx="4430486" cy="59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endParaRPr lang="en-US" altLang="en-US" sz="2500" dirty="0" smtClean="0">
              <a:latin typeface="Arial" panose="020B0604020202020204" pitchFamily="34" charset="0"/>
            </a:endParaRPr>
          </a:p>
        </p:txBody>
      </p:sp>
      <p:pic>
        <p:nvPicPr>
          <p:cNvPr id="3074" name="Picture 9"/>
          <p:cNvPicPr>
            <a:picLocks noChangeAspect="1" noChangeArrowheads="1"/>
          </p:cNvPicPr>
          <p:nvPr/>
        </p:nvPicPr>
        <p:blipFill>
          <a:blip r:embed="rId3">
            <a:extLst>
              <a:ext uri="{28A0092B-C50C-407E-A947-70E740481C1C}">
                <a14:useLocalDpi xmlns:a14="http://schemas.microsoft.com/office/drawing/2010/main" val="0"/>
              </a:ext>
            </a:extLst>
          </a:blip>
          <a:srcRect l="3854" t="10851" r="5341"/>
          <a:stretch>
            <a:fillRect/>
          </a:stretch>
        </p:blipFill>
        <p:spPr bwMode="auto">
          <a:xfrm>
            <a:off x="7315199" y="2972367"/>
            <a:ext cx="4482059" cy="3383418"/>
          </a:xfrm>
          <a:prstGeom prst="rect">
            <a:avLst/>
          </a:prstGeom>
          <a:noFill/>
          <a:effectLst>
            <a:softEdge rad="101600"/>
          </a:effectLst>
          <a:extLst>
            <a:ext uri="{909E8E84-426E-40DD-AFC4-6F175D3DCCD1}">
              <a14:hiddenFill xmlns:a14="http://schemas.microsoft.com/office/drawing/2010/main">
                <a:solidFill>
                  <a:srgbClr val="FFFFFF"/>
                </a:solidFill>
              </a14:hiddenFill>
            </a:ext>
          </a:extLst>
        </p:spPr>
      </p:pic>
      <p:sp>
        <p:nvSpPr>
          <p:cNvPr id="11" name="Rectangle 1"/>
          <p:cNvSpPr txBox="1">
            <a:spLocks noChangeArrowheads="1"/>
          </p:cNvSpPr>
          <p:nvPr/>
        </p:nvSpPr>
        <p:spPr bwMode="auto">
          <a:xfrm>
            <a:off x="8193825" y="6188586"/>
            <a:ext cx="2840265" cy="66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Roc curves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895351668"/>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Methodology Overview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6</a:t>
            </a:fld>
            <a:endParaRPr lang="en-US"/>
          </a:p>
        </p:txBody>
      </p:sp>
      <p:sp>
        <p:nvSpPr>
          <p:cNvPr id="5" name="Rectangle 1"/>
          <p:cNvSpPr>
            <a:spLocks noGrp="1" noChangeArrowheads="1"/>
          </p:cNvSpPr>
          <p:nvPr>
            <p:ph idx="1"/>
          </p:nvPr>
        </p:nvSpPr>
        <p:spPr bwMode="auto">
          <a:xfrm>
            <a:off x="422031" y="1069723"/>
            <a:ext cx="1019459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Research Design:</a:t>
            </a:r>
            <a:r>
              <a:rPr kumimoji="0" lang="en-US" altLang="en-US" sz="2500" b="0" i="0" u="none" strike="noStrike" cap="none" normalizeH="0" baseline="0" dirty="0" smtClean="0">
                <a:ln>
                  <a:noFill/>
                </a:ln>
                <a:solidFill>
                  <a:schemeClr val="tx1"/>
                </a:solidFill>
                <a:effectLst/>
                <a:latin typeface="Arial" panose="020B0604020202020204" pitchFamily="34" charset="0"/>
              </a:rPr>
              <a:t> Quantitative predictive-analytics approach</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Modelling Techniques: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Random Forest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Support Vector Machine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Validation Approach:</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Train-test split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5-fold cross-validation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ANOVA-based significance tests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6342114" y="1944150"/>
            <a:ext cx="3919721" cy="3265285"/>
          </a:xfrm>
          <a:prstGeom prst="rect">
            <a:avLst/>
          </a:prstGeom>
          <a:effectLst>
            <a:softEdge rad="177800"/>
          </a:effectLst>
        </p:spPr>
      </p:pic>
      <p:sp>
        <p:nvSpPr>
          <p:cNvPr id="7" name="Rectangle 1"/>
          <p:cNvSpPr txBox="1">
            <a:spLocks noChangeArrowheads="1"/>
          </p:cNvSpPr>
          <p:nvPr/>
        </p:nvSpPr>
        <p:spPr bwMode="auto">
          <a:xfrm>
            <a:off x="6960355" y="5223311"/>
            <a:ext cx="2683240" cy="598177"/>
          </a:xfrm>
          <a:prstGeom prst="rect">
            <a:avLst/>
          </a:prstGeom>
          <a:gradFill>
            <a:gsLst>
              <a:gs pos="0">
                <a:schemeClr val="bg1">
                  <a:lumMod val="6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r>
              <a:rPr lang="en-US" altLang="en-US" sz="2500" dirty="0" smtClean="0">
                <a:latin typeface="Arial" panose="020B0604020202020204" pitchFamily="34" charset="0"/>
              </a:rPr>
              <a:t>Confusion matrix</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20049843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Model Performance Results</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7</a:t>
            </a:fld>
            <a:endParaRPr lang="en-US"/>
          </a:p>
        </p:txBody>
      </p:sp>
      <p:sp>
        <p:nvSpPr>
          <p:cNvPr id="5" name="Rectangle 1"/>
          <p:cNvSpPr>
            <a:spLocks noGrp="1" noChangeArrowheads="1"/>
          </p:cNvSpPr>
          <p:nvPr>
            <p:ph idx="1"/>
          </p:nvPr>
        </p:nvSpPr>
        <p:spPr bwMode="auto">
          <a:xfrm>
            <a:off x="838200" y="2223886"/>
            <a:ext cx="9567602"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Best Model:</a:t>
            </a:r>
            <a:r>
              <a:rPr kumimoji="0" lang="en-US" altLang="en-US" sz="2500" b="0" i="0" u="none" strike="noStrike" cap="none" normalizeH="0" baseline="0" dirty="0" smtClean="0">
                <a:ln>
                  <a:noFill/>
                </a:ln>
                <a:solidFill>
                  <a:schemeClr val="tx1"/>
                </a:solidFill>
                <a:effectLst/>
                <a:latin typeface="Arial" panose="020B0604020202020204" pitchFamily="34" charset="0"/>
              </a:rPr>
              <a:t> </a:t>
            </a: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(highest F1 &amp; ROC-AUC)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Performance Highlights: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RF: Accurate but less sensitive to noisy frequency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SVM: Stable but slightly lower recall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Strong </a:t>
            </a:r>
            <a:r>
              <a:rPr kumimoji="0" lang="en-US" altLang="en-US" sz="2500" b="0" i="0" u="none" strike="noStrike" cap="none" normalizeH="0" baseline="0" dirty="0" err="1" smtClean="0">
                <a:ln>
                  <a:noFill/>
                </a:ln>
                <a:solidFill>
                  <a:schemeClr val="tx1"/>
                </a:solidFill>
                <a:effectLst/>
                <a:latin typeface="Arial" panose="020B0604020202020204" pitchFamily="34" charset="0"/>
              </a:rPr>
              <a:t>generalisation</a:t>
            </a:r>
            <a:r>
              <a:rPr kumimoji="0" lang="en-US" altLang="en-US" sz="2500" b="0" i="0" u="none" strike="noStrike" cap="none" normalizeH="0" baseline="0" dirty="0" smtClean="0">
                <a:ln>
                  <a:noFill/>
                </a:ln>
                <a:solidFill>
                  <a:schemeClr val="tx1"/>
                </a:solidFill>
                <a:effectLst/>
                <a:latin typeface="Arial" panose="020B0604020202020204" pitchFamily="34" charset="0"/>
              </a:rPr>
              <a:t>, best recall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43851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Feature Importance &amp; PCA Analysis </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8</a:t>
            </a:fld>
            <a:endParaRPr lang="en-US"/>
          </a:p>
        </p:txBody>
      </p:sp>
      <p:sp>
        <p:nvSpPr>
          <p:cNvPr id="5" name="Rectangle 1"/>
          <p:cNvSpPr>
            <a:spLocks noGrp="1" noChangeArrowheads="1"/>
          </p:cNvSpPr>
          <p:nvPr>
            <p:ph idx="1"/>
          </p:nvPr>
        </p:nvSpPr>
        <p:spPr bwMode="auto">
          <a:xfrm>
            <a:off x="838200" y="1069723"/>
            <a:ext cx="818183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Top Predictors Identified: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vibration levels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magnitudes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PCA Findings: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PC1 (41% variance) → RMS + 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PC2 (23%) → 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PC3 (14%) → FFT peaks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439829" y="2195861"/>
            <a:ext cx="4026457" cy="2696848"/>
          </a:xfrm>
          <a:prstGeom prst="rect">
            <a:avLst/>
          </a:prstGeom>
          <a:effectLst>
            <a:softEdge rad="127000"/>
          </a:effectLst>
        </p:spPr>
      </p:pic>
      <p:sp>
        <p:nvSpPr>
          <p:cNvPr id="7" name="Rectangle 1"/>
          <p:cNvSpPr txBox="1">
            <a:spLocks noChangeArrowheads="1"/>
          </p:cNvSpPr>
          <p:nvPr/>
        </p:nvSpPr>
        <p:spPr bwMode="auto">
          <a:xfrm>
            <a:off x="7886996" y="4817368"/>
            <a:ext cx="3141418" cy="669414"/>
          </a:xfrm>
          <a:prstGeom prst="rect">
            <a:avLst/>
          </a:prstGeom>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PCA Scatter plots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19219659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rgbClr val="C0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A970-15C1-924D-892B-EF1A1A54EE34}"/>
              </a:ext>
            </a:extLst>
          </p:cNvPr>
          <p:cNvSpPr>
            <a:spLocks noGrp="1"/>
          </p:cNvSpPr>
          <p:nvPr>
            <p:ph type="title"/>
          </p:nvPr>
        </p:nvSpPr>
        <p:spPr/>
        <p:txBody>
          <a:bodyPr/>
          <a:lstStyle/>
          <a:p>
            <a:pPr algn="ctr"/>
            <a:r>
              <a:rPr lang="en-GB" b="1" dirty="0"/>
              <a:t>Sensor-Signal Behaviour Analysis</a:t>
            </a:r>
            <a:endParaRPr lang="en-US" b="1" dirty="0"/>
          </a:p>
        </p:txBody>
      </p:sp>
      <p:sp>
        <p:nvSpPr>
          <p:cNvPr id="4" name="Slide Number Placeholder 3">
            <a:extLst>
              <a:ext uri="{FF2B5EF4-FFF2-40B4-BE49-F238E27FC236}">
                <a16:creationId xmlns:a16="http://schemas.microsoft.com/office/drawing/2014/main" id="{D52CEB41-6EB9-344A-B4D8-B9125B5EB7F9}"/>
              </a:ext>
            </a:extLst>
          </p:cNvPr>
          <p:cNvSpPr>
            <a:spLocks noGrp="1"/>
          </p:cNvSpPr>
          <p:nvPr>
            <p:ph type="sldNum" sz="quarter" idx="12"/>
          </p:nvPr>
        </p:nvSpPr>
        <p:spPr/>
        <p:txBody>
          <a:bodyPr/>
          <a:lstStyle/>
          <a:p>
            <a:fld id="{351B0C85-9CFF-3B42-BE74-68F1856660D0}" type="slidenum">
              <a:rPr lang="en-US" smtClean="0"/>
              <a:t>9</a:t>
            </a:fld>
            <a:endParaRPr lang="en-US"/>
          </a:p>
        </p:txBody>
      </p:sp>
      <p:sp>
        <p:nvSpPr>
          <p:cNvPr id="5" name="Rectangle 1"/>
          <p:cNvSpPr>
            <a:spLocks noGrp="1" noChangeArrowheads="1"/>
          </p:cNvSpPr>
          <p:nvPr>
            <p:ph idx="1"/>
          </p:nvPr>
        </p:nvSpPr>
        <p:spPr bwMode="auto">
          <a:xfrm>
            <a:off x="130630" y="1358264"/>
            <a:ext cx="6720114"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Healthy vs Faulty:</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Healthy → smooth, low-amplitude vibration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 spikes, abrupt shocks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FFT Analysis: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tracks showed strong harmonic distortions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Higher broadband noise and irregular periodicity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101224" y="1690688"/>
            <a:ext cx="4553240" cy="2482977"/>
          </a:xfrm>
          <a:prstGeom prst="rect">
            <a:avLst/>
          </a:prstGeom>
          <a:effectLst>
            <a:softEdge rad="114300"/>
          </a:effectLst>
        </p:spPr>
      </p:pic>
      <p:sp>
        <p:nvSpPr>
          <p:cNvPr id="7" name="Rectangle 1"/>
          <p:cNvSpPr txBox="1">
            <a:spLocks noChangeArrowheads="1"/>
          </p:cNvSpPr>
          <p:nvPr/>
        </p:nvSpPr>
        <p:spPr bwMode="auto">
          <a:xfrm>
            <a:off x="7842849" y="4159064"/>
            <a:ext cx="3069990" cy="669414"/>
          </a:xfrm>
          <a:prstGeom prst="rect">
            <a:avLst/>
          </a:prstGeom>
          <a:gradFill>
            <a:gsLst>
              <a:gs pos="0">
                <a:srgbClr val="0070C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Vibration signals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26396758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Discussion in Relation to Literature </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10</a:t>
            </a:fld>
            <a:endParaRPr lang="en-US"/>
          </a:p>
        </p:txBody>
      </p:sp>
      <p:sp>
        <p:nvSpPr>
          <p:cNvPr id="5" name="Rectangle 1"/>
          <p:cNvSpPr>
            <a:spLocks noGrp="1" noChangeArrowheads="1"/>
          </p:cNvSpPr>
          <p:nvPr>
            <p:ph idx="1"/>
          </p:nvPr>
        </p:nvSpPr>
        <p:spPr bwMode="auto">
          <a:xfrm>
            <a:off x="703385" y="1069722"/>
            <a:ext cx="8365755"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Results align with</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Binder et al. → vibration irregularity as defect signature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 FFT/entropy importance confirmed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Le Nguyen (2023) → ML-based predictive maintenance validated</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Study contributes by: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Using multimodal sensor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Demonstrating explainable ML workflow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Providing a transparent reproduction code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74142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Practical &amp; Managerial Implications</a:t>
            </a:r>
            <a:endParaRPr lang="en-GB" b="1" dirty="0"/>
          </a:p>
        </p:txBody>
      </p:sp>
      <p:sp>
        <p:nvSpPr>
          <p:cNvPr id="3" name="Content Placeholder 2">
            <a:extLst>
              <a:ext uri="{FF2B5EF4-FFF2-40B4-BE49-F238E27FC236}">
                <a16:creationId xmlns:a16="http://schemas.microsoft.com/office/drawing/2014/main" id="{BBA34A1F-776F-867A-4D96-6B73C2A1E691}"/>
              </a:ext>
            </a:extLst>
          </p:cNvPr>
          <p:cNvSpPr>
            <a:spLocks noGrp="1"/>
          </p:cNvSpPr>
          <p:nvPr>
            <p:ph idx="1"/>
          </p:nvPr>
        </p:nvSpPr>
        <p:spPr>
          <a:xfrm>
            <a:off x="838199" y="1825625"/>
            <a:ext cx="5794829" cy="4351338"/>
          </a:xfrm>
          <a:noFill/>
        </p:spPr>
        <p:txBody>
          <a:bodyPr>
            <a:normAutofit lnSpcReduction="10000"/>
          </a:bodyPr>
          <a:lstStyle/>
          <a:p>
            <a:pPr>
              <a:buFont typeface="Wingdings" panose="05000000000000000000" pitchFamily="2" charset="2"/>
              <a:buChar char="q"/>
            </a:pPr>
            <a:r>
              <a:rPr lang="en-US" b="1" dirty="0"/>
              <a:t>Operational Benefits:</a:t>
            </a:r>
            <a:endParaRPr lang="en-US" dirty="0"/>
          </a:p>
          <a:p>
            <a:pPr lvl="1">
              <a:buFont typeface="Wingdings" panose="05000000000000000000" pitchFamily="2" charset="2"/>
              <a:buChar char="ü"/>
            </a:pPr>
            <a:r>
              <a:rPr lang="en-US" dirty="0"/>
              <a:t>Early warning for track defects</a:t>
            </a:r>
          </a:p>
          <a:p>
            <a:pPr lvl="1">
              <a:buFont typeface="Wingdings" panose="05000000000000000000" pitchFamily="2" charset="2"/>
              <a:buChar char="ü"/>
            </a:pPr>
            <a:r>
              <a:rPr lang="en-US" dirty="0"/>
              <a:t>Reduced derailment risks</a:t>
            </a:r>
          </a:p>
          <a:p>
            <a:pPr lvl="1">
              <a:buFont typeface="Wingdings" panose="05000000000000000000" pitchFamily="2" charset="2"/>
              <a:buChar char="ü"/>
            </a:pPr>
            <a:r>
              <a:rPr lang="en-US" dirty="0" err="1"/>
              <a:t>Optimised</a:t>
            </a:r>
            <a:r>
              <a:rPr lang="en-US" dirty="0"/>
              <a:t> inspection intervals</a:t>
            </a:r>
          </a:p>
          <a:p>
            <a:pPr>
              <a:buFont typeface="Wingdings" panose="05000000000000000000" pitchFamily="2" charset="2"/>
              <a:buChar char="q"/>
            </a:pPr>
            <a:r>
              <a:rPr lang="en-US" b="1" dirty="0"/>
              <a:t>Integration Potential:</a:t>
            </a:r>
            <a:endParaRPr lang="en-US" dirty="0"/>
          </a:p>
          <a:p>
            <a:pPr lvl="1">
              <a:buFont typeface="Wingdings" panose="05000000000000000000" pitchFamily="2" charset="2"/>
              <a:buChar char="ü"/>
            </a:pPr>
            <a:r>
              <a:rPr lang="en-US" dirty="0"/>
              <a:t>Real-time dashboards</a:t>
            </a:r>
          </a:p>
          <a:p>
            <a:pPr lvl="1">
              <a:buFont typeface="Wingdings" panose="05000000000000000000" pitchFamily="2" charset="2"/>
              <a:buChar char="ü"/>
            </a:pPr>
            <a:r>
              <a:rPr lang="en-US" dirty="0"/>
              <a:t>Digital twin systems</a:t>
            </a:r>
          </a:p>
          <a:p>
            <a:pPr lvl="1">
              <a:buFont typeface="Wingdings" panose="05000000000000000000" pitchFamily="2" charset="2"/>
              <a:buChar char="ü"/>
            </a:pPr>
            <a:r>
              <a:rPr lang="en-US" dirty="0"/>
              <a:t>Automated maintenance scheduling</a:t>
            </a:r>
          </a:p>
          <a:p>
            <a:pPr>
              <a:buFont typeface="Wingdings" panose="05000000000000000000" pitchFamily="2" charset="2"/>
              <a:buChar char="q"/>
            </a:pPr>
            <a:r>
              <a:rPr lang="en-US" b="1" dirty="0"/>
              <a:t>Cost/Time Savings:</a:t>
            </a:r>
            <a:endParaRPr lang="en-US" dirty="0"/>
          </a:p>
          <a:p>
            <a:pPr lvl="1">
              <a:buFont typeface="Wingdings" panose="05000000000000000000" pitchFamily="2" charset="2"/>
              <a:buChar char="ü"/>
            </a:pPr>
            <a:r>
              <a:rPr lang="en-US" dirty="0"/>
              <a:t>Fewer manual inspections</a:t>
            </a:r>
          </a:p>
          <a:p>
            <a:pPr lvl="1">
              <a:buFont typeface="Wingdings" panose="05000000000000000000" pitchFamily="2" charset="2"/>
              <a:buChar char="ü"/>
            </a:pPr>
            <a:r>
              <a:rPr lang="en-US" dirty="0"/>
              <a:t>Lower downtime losses</a:t>
            </a:r>
          </a:p>
          <a:p>
            <a:endParaRPr lang="en-GB" dirty="0"/>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11</a:t>
            </a:fld>
            <a:endParaRPr lang="en-US"/>
          </a:p>
        </p:txBody>
      </p:sp>
      <p:pic>
        <p:nvPicPr>
          <p:cNvPr id="9" name="Picture 8"/>
          <p:cNvPicPr>
            <a:picLocks noChangeAspect="1"/>
          </p:cNvPicPr>
          <p:nvPr/>
        </p:nvPicPr>
        <p:blipFill>
          <a:blip r:embed="rId3"/>
          <a:stretch>
            <a:fillRect/>
          </a:stretch>
        </p:blipFill>
        <p:spPr>
          <a:xfrm>
            <a:off x="6284685" y="2014856"/>
            <a:ext cx="5343298" cy="3039743"/>
          </a:xfrm>
          <a:prstGeom prst="rect">
            <a:avLst/>
          </a:prstGeom>
          <a:effectLst>
            <a:softEdge rad="114300"/>
          </a:effectLst>
        </p:spPr>
      </p:pic>
    </p:spTree>
    <p:extLst>
      <p:ext uri="{BB962C8B-B14F-4D97-AF65-F5344CB8AC3E}">
        <p14:creationId xmlns:p14="http://schemas.microsoft.com/office/powerpoint/2010/main" val="25826014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Conclusion &amp; Future Work</a:t>
            </a:r>
            <a:endParaRPr lang="en-GB" b="1" dirty="0"/>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12</a:t>
            </a:fld>
            <a:endParaRPr lang="en-US"/>
          </a:p>
        </p:txBody>
      </p:sp>
      <p:sp>
        <p:nvSpPr>
          <p:cNvPr id="6" name="Rectangle 2"/>
          <p:cNvSpPr>
            <a:spLocks noGrp="1" noChangeArrowheads="1"/>
          </p:cNvSpPr>
          <p:nvPr>
            <p:ph idx="1"/>
          </p:nvPr>
        </p:nvSpPr>
        <p:spPr bwMode="auto">
          <a:xfrm>
            <a:off x="838200" y="1242296"/>
            <a:ext cx="9487487" cy="561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Study successfully developed an end-to-end predictive-maintenance model.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Demonstrated strong performance using open-source vibration and acoustic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Key contributions: reproducible pipeline, validated feature set, and comparative model analysis.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Future Work:</a:t>
            </a:r>
            <a:endParaRPr kumimoji="0" lang="en-US" altLang="en-US" sz="22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Include CNN/LSTM deep-learning architectures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Expand multimodal sensing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Integrate contextual factors (temperature, load, train speed)</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619995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AC11E3B6B55D4A9A7185C99F92AEA2" ma:contentTypeVersion="3" ma:contentTypeDescription="Create a new document." ma:contentTypeScope="" ma:versionID="3fe09635af5b8c354a9abb68b47d6d1b">
  <xsd:schema xmlns:xsd="http://www.w3.org/2001/XMLSchema" xmlns:xs="http://www.w3.org/2001/XMLSchema" xmlns:p="http://schemas.microsoft.com/office/2006/metadata/properties" xmlns:ns2="8c2ae004-27d5-4918-b63c-706d5cb79bb7" targetNamespace="http://schemas.microsoft.com/office/2006/metadata/properties" ma:root="true" ma:fieldsID="6cc43c2e6ab8b4aba61883bf3d4452dc" ns2:_="">
    <xsd:import namespace="8c2ae004-27d5-4918-b63c-706d5cb79bb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2ae004-27d5-4918-b63c-706d5cb79b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67BEF4-404D-49F2-A37A-824535B983E2}">
  <ds:schemaRefs>
    <ds:schemaRef ds:uri="http://schemas.microsoft.com/sharepoint/v3/contenttype/forms"/>
  </ds:schemaRefs>
</ds:datastoreItem>
</file>

<file path=customXml/itemProps2.xml><?xml version="1.0" encoding="utf-8"?>
<ds:datastoreItem xmlns:ds="http://schemas.openxmlformats.org/officeDocument/2006/customXml" ds:itemID="{15158A2A-B3AE-4BF3-993D-4BE0C73DF48C}">
  <ds:schemaRefs>
    <ds:schemaRef ds:uri="http://purl.org/dc/dcmitype/"/>
    <ds:schemaRef ds:uri="http://schemas.openxmlformats.org/package/2006/metadata/core-properties"/>
    <ds:schemaRef ds:uri="8c2ae004-27d5-4918-b63c-706d5cb79bb7"/>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7BBF425F-B698-40D1-A007-146F8960E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2ae004-27d5-4918-b63c-706d5cb79b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223</TotalTime>
  <Words>2191</Words>
  <Application>Microsoft Office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Tahoma</vt:lpstr>
      <vt:lpstr>Wingdings</vt:lpstr>
      <vt:lpstr>Office Theme</vt:lpstr>
      <vt:lpstr>Predictive Maintenance in the Railroad Industry: A Data-Driven Approach to Failure Forecasting</vt:lpstr>
      <vt:lpstr>Background &amp; Problem Statement</vt:lpstr>
      <vt:lpstr>Research Aim &amp; Objectives</vt:lpstr>
      <vt:lpstr>Summary of Literature Review</vt:lpstr>
      <vt:lpstr>Dataset Description &amp; Feature Engineering</vt:lpstr>
      <vt:lpstr>Methodology Overview</vt:lpstr>
      <vt:lpstr>Model Performance Results</vt:lpstr>
      <vt:lpstr>Feature Importance &amp; PCA Analysis </vt:lpstr>
      <vt:lpstr>Sensor-Signal Behaviour Analysis</vt:lpstr>
      <vt:lpstr>Discussion in Relation to Literature </vt:lpstr>
      <vt:lpstr>Practical &amp; Managerial Implications</vt:lpstr>
      <vt:lpstr>Conclusion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Usman Naeem</dc:creator>
  <cp:lastModifiedBy>Eng. Ochieng' Otieno</cp:lastModifiedBy>
  <cp:revision>13</cp:revision>
  <dcterms:created xsi:type="dcterms:W3CDTF">2015-11-09T21:30:07Z</dcterms:created>
  <dcterms:modified xsi:type="dcterms:W3CDTF">2025-12-11T23:14:29Z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0x010100D2AC11E3B6B55D4A9A7185C99F92AEA2</vt:lpwstr>
  </property>
  <property fmtid="{D5CDD505-2E9C-101B-9397-08002B2CF9AE}" pid="3" name="TaxKeyword">
    <vt:lpwstr/>
  </property>
  <property fmtid="{D5CDD505-2E9C-101B-9397-08002B2CF9AE}" pid="4" name="QMULDocumentStatus">
    <vt:lpwstr/>
  </property>
  <property fmtid="{D5CDD505-2E9C-101B-9397-08002B2CF9AE}" pid="5" name="QMULInformationClassification">
    <vt:lpwstr>1;#Protect|9124d8d9-0c1c-41e9-aa14-aba001e9a028</vt:lpwstr>
  </property>
  <property fmtid="{D5CDD505-2E9C-101B-9397-08002B2CF9AE}" pid="6" name="QMULLocation">
    <vt:lpwstr/>
  </property>
  <property fmtid="{D5CDD505-2E9C-101B-9397-08002B2CF9AE}" pid="7" name="QMULDocumentType">
    <vt:lpwstr/>
  </property>
  <property fmtid="{D5CDD505-2E9C-101B-9397-08002B2CF9AE}" pid="8" name="QMULSchool">
    <vt:lpwstr/>
  </property>
  <property fmtid="{D5CDD505-2E9C-101B-9397-08002B2CF9AE}" pid="9" name="QMULDepartment">
    <vt:lpwstr/>
  </property>
</Properties>
</file>